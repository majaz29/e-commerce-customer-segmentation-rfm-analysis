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layfair Display"/>
      <p:regular r:id="rId201314"/>
    </p:embeddedFont>
    <p:embeddedFont>
      <p:font typeface="Playfair Display SemiBold"/>
      <p:regular r:id="rId201315"/>
    </p:embeddedFont>
    <p:embeddedFont>
      <p:font typeface="Playfair Display Bold"/>
      <p:regular r:id="rId201316"/>
    </p:embeddedFont>
    <p:embeddedFont>
      <p:font typeface="Playfair Display Black"/>
      <p:regular r:id="rId201317"/>
    </p:embeddedFont>
    <p:embeddedFont>
      <p:font typeface="Public Sans"/>
      <p:regular r:id="rId201318"/>
    </p:embeddedFont>
    <p:embeddedFont>
      <p:font typeface="Public Sans SemiBold"/>
      <p:regular r:id="rId201319"/>
    </p:embeddedFont>
    <p:embeddedFont>
      <p:font typeface="Public Sans Bold"/>
      <p:regular r:id="rId201320"/>
    </p:embeddedFont>
    <p:embeddedFont>
      <p:font typeface="Public Sans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jpe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jpe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.png"/><Relationship Id="rId14" Type="http://schemas.openxmlformats.org/officeDocument/2006/relationships/image" Target="../media/image-9-2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jpeg"/><Relationship Id="rId18" Type="http://schemas.openxmlformats.org/officeDocument/2006/relationships/image" Target="../media/image-9-18.jpe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2.png"/><Relationship Id="rId9" Type="http://schemas.openxmlformats.org/officeDocument/2006/relationships/image" Target="../media/image-10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621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992511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E-Commerce Customer Segmentation &amp; RFM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047927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Tools used: 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Python | SQL | Power BI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Presented by: Majaz Fatima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616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Problem Statement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1970286"/>
            <a:ext cx="5476043" cy="3791545"/>
          </a:xfrm>
          <a:prstGeom prst="roundRect">
            <a:avLst>
              <a:gd name="adj" fmla="val 3589"/>
            </a:avLst>
          </a:prstGeom>
          <a:solidFill>
            <a:srgbClr val="E1C2C2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159298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The Challenge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2643584"/>
            <a:ext cx="509802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E-commerce businesses generate large amounts of transaction data. Analyzing this data can help understand customer purchasing behavior, identify valuable customers, and recognize customers who may need re-engagement.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215929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Project Objectives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2643584"/>
            <a:ext cx="5203794" cy="3052167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Clean and prepare the transaction data for analysis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Analyze sales, customers, products, and purchasing patterns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Identify high-value customers and products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Perform RFM analysis to understand customer behavior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Segment customers into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High Value, Loyal, At-Risk, and Dormant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groups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Create a Power BI dashboard to communicate the findings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897"/>
            <a:ext cx="10868745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Dataset Overview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129605"/>
            <a:ext cx="5390519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541K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1619845"/>
            <a:ext cx="5390519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Total Rows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1475" y="1841798"/>
            <a:ext cx="539051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 columns per record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39701" y="1129605"/>
            <a:ext cx="5390519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13</a:t>
            </a:r>
            <a:endParaRPr lang="en-US" sz="2950" dirty="0"/>
          </a:p>
        </p:txBody>
      </p:sp>
      <p:sp>
        <p:nvSpPr>
          <p:cNvPr id="7" name="Text 5"/>
          <p:cNvSpPr/>
          <p:nvPr/>
        </p:nvSpPr>
        <p:spPr>
          <a:xfrm>
            <a:off x="6139701" y="1619845"/>
            <a:ext cx="5390519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Months Covered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39701" y="1841798"/>
            <a:ext cx="539051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Dec 2010 – Dec 2011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1475" y="2095302"/>
            <a:ext cx="1086874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Key Variables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1475" y="2380456"/>
            <a:ext cx="10868745" cy="1357412"/>
          </a:xfrm>
          <a:prstGeom prst="rect">
            <a:avLst/>
          </a:prstGeom>
          <a:noFill/>
          <a:ln/>
        </p:spPr>
        <p:txBody>
          <a:bodyPr wrap="square" lIns="0" tIns="46073" rIns="0" bIns="0" rtlCol="0" anchor="t">
            <a:normAutofit/>
          </a:bodyPr>
          <a:lstStyle/>
          <a:p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InvoiceNo</a:t>
            </a:r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Unique transaction number</a:t>
            </a:r>
            <a:endParaRPr lang="en-US" sz="900" dirty="0"/>
          </a:p>
          <a:p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StockCode</a:t>
            </a:r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Product identifier</a:t>
            </a:r>
            <a:endParaRPr lang="en-US" sz="900" dirty="0"/>
          </a:p>
          <a:p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Description</a:t>
            </a:r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Product description</a:t>
            </a:r>
            <a:endParaRPr lang="en-US" sz="900" dirty="0"/>
          </a:p>
          <a:p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Quantity</a:t>
            </a:r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Number of items purchased</a:t>
            </a:r>
            <a:endParaRPr lang="en-US" sz="900" dirty="0"/>
          </a:p>
          <a:p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InvoiceDate</a:t>
            </a:r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Date and time of purchase</a:t>
            </a:r>
            <a:endParaRPr lang="en-US" sz="900" dirty="0"/>
          </a:p>
          <a:p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UnitPrice</a:t>
            </a:r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Price per unit</a:t>
            </a:r>
            <a:endParaRPr lang="en-US" sz="900" dirty="0"/>
          </a:p>
          <a:p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CustomerID</a:t>
            </a:r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Unique customer identifier</a:t>
            </a:r>
            <a:endParaRPr lang="en-US" sz="900" dirty="0"/>
          </a:p>
          <a:p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Country</a:t>
            </a:r>
            <a:pPr algn="l" marL="182880" indent="-182880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Customer location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816747"/>
            <a:ext cx="10272852" cy="24692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Data Cleaning &amp; Preparation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Before analysis, the dataset was cleaned in Python to improve data quality and prepare it for customer segmentation.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076027"/>
            <a:ext cx="5410759" cy="5036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9427" y="1183184"/>
            <a:ext cx="51456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Missing CustomerID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19427" y="1359098"/>
            <a:ext cx="514565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Removed rows with missing CustomerID because customers could not be identified for segmentation.</a:t>
            </a:r>
            <a:endParaRPr lang="en-US" sz="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19461" y="1076027"/>
            <a:ext cx="5410759" cy="5036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77413" y="1183184"/>
            <a:ext cx="51456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Duplicates Removed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277413" y="1359098"/>
            <a:ext cx="514565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Removed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5,525 duplicate rows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to ensure data integrity.</a:t>
            </a:r>
            <a:endParaRPr lang="en-US" sz="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1626890"/>
            <a:ext cx="5410759" cy="61704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9427" y="1734046"/>
            <a:ext cx="51456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Cancelled Orders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819427" y="1909961"/>
            <a:ext cx="514565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Identified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8,872 rows with negative quantities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; InvoiceNo started with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"C"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indicating cancellations — removed from dataset.</a:t>
            </a:r>
            <a:endParaRPr lang="en-US" sz="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19461" y="1626890"/>
            <a:ext cx="5410759" cy="61704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77413" y="1734046"/>
            <a:ext cx="51456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Non-Product StockCodes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6277413" y="1909961"/>
            <a:ext cx="514565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Removed entries such as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POST, C2, M, DOT, and BANK CHARGES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which were not actual products.</a:t>
            </a:r>
            <a:endParaRPr lang="en-US" sz="7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475" y="2297013"/>
            <a:ext cx="9238225" cy="43474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8878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Exploratory Data Analysis (EDA)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85975"/>
            <a:ext cx="6908330" cy="35241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22826" y="1564382"/>
            <a:ext cx="35136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EDA Performed in Python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022826" y="2027734"/>
            <a:ext cx="351364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Key analyses conducted to understand sales patterns, customer behavior, and product performance: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022826" y="3052663"/>
            <a:ext cx="3513645" cy="3194348"/>
          </a:xfrm>
          <a:prstGeom prst="rect">
            <a:avLst/>
          </a:prstGeom>
          <a:noFill/>
          <a:ln/>
        </p:spPr>
        <p:txBody>
          <a:bodyPr wrap="square" lIns="0" tIns="73245" rIns="0" bIns="0" rtlCol="0" anchor="t">
            <a:normAutofit/>
          </a:bodyPr>
          <a:lstStyle/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Analyzed 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sales trends over time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Identified 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top customers by total sales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Analyzed 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top products by revenue and quantity sold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Compared 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sales across countries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Analyzed 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monthly and day-of-week sales patterns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Investigated 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quantity distribution and outliers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8878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Pareto Analysis – Revenue Contribution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394619"/>
            <a:ext cx="1147833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Pareto analysis was performed to identify the customers and products that contribute the majority of revenue.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830487"/>
            <a:ext cx="3519399" cy="1499592"/>
          </a:xfrm>
          <a:prstGeom prst="roundRect">
            <a:avLst>
              <a:gd name="adj" fmla="val 4798"/>
            </a:avLst>
          </a:prstGeom>
          <a:solidFill>
            <a:srgbClr val="E1C2C2">
              <a:alpha val="50000"/>
            </a:srgbClr>
          </a:solidFill>
          <a:ln w="6350">
            <a:solidFill>
              <a:srgbClr val="C7A8A8"/>
            </a:solidFill>
            <a:prstDash val="solid"/>
          </a:ln>
          <a:effectLst>
            <a:outerShdw sx="100000" sy="100000" kx="0" ky="0" algn="bl" rotWithShape="0" blurRad="127" dist="21590" dir="2700000">
              <a:srgbClr val="c7a8a8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39072" y="2008088"/>
            <a:ext cx="316420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Customer Contribution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39072" y="2368748"/>
            <a:ext cx="316420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26% of customers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are responsible for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80% of the revenue.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6049" y="1830487"/>
            <a:ext cx="3519499" cy="1499592"/>
          </a:xfrm>
          <a:prstGeom prst="roundRect">
            <a:avLst>
              <a:gd name="adj" fmla="val 4798"/>
            </a:avLst>
          </a:prstGeom>
          <a:solidFill>
            <a:srgbClr val="CCC4EC">
              <a:alpha val="50000"/>
            </a:srgbClr>
          </a:solidFill>
          <a:ln w="6350">
            <a:solidFill>
              <a:srgbClr val="B2AAD2"/>
            </a:solidFill>
            <a:prstDash val="solid"/>
          </a:ln>
          <a:effectLst>
            <a:outerShdw sx="100000" sy="100000" kx="0" ky="0" algn="bl" rotWithShape="0" blurRad="127" dist="21590" dir="2700000">
              <a:srgbClr val="b2aad2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13646" y="2008088"/>
            <a:ext cx="3164304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Product Contribution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513646" y="2368748"/>
            <a:ext cx="3164304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20% of products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are responsible for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80% of the revenue.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0721" y="1830487"/>
            <a:ext cx="3519499" cy="1499592"/>
          </a:xfrm>
          <a:prstGeom prst="roundRect">
            <a:avLst>
              <a:gd name="adj" fmla="val 4798"/>
            </a:avLst>
          </a:prstGeom>
          <a:solidFill>
            <a:srgbClr val="B4DAE4">
              <a:alpha val="50000"/>
            </a:srgbClr>
          </a:solidFill>
          <a:ln w="6350">
            <a:solidFill>
              <a:srgbClr val="9AC0CA"/>
            </a:solidFill>
            <a:prstDash val="solid"/>
          </a:ln>
          <a:effectLst>
            <a:outerShdw sx="100000" sy="100000" kx="0" ky="0" algn="bl" rotWithShape="0" blurRad="127" dist="21590" dir="2700000">
              <a:srgbClr val="9ac0ca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88319" y="2008088"/>
            <a:ext cx="3164304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Key Takeaway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188319" y="2368748"/>
            <a:ext cx="3164304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relatively small group of customers and products generates most of the business revenue.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504704"/>
            <a:ext cx="10868745" cy="981075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4660404"/>
            <a:ext cx="10727461" cy="16487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943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Business Analysis Using SQL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70620"/>
            <a:ext cx="6918350" cy="46848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4074" y="1460103"/>
            <a:ext cx="353239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Key SQL Analyses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8004074" y="1882874"/>
            <a:ext cx="3532397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SQL was used to analyze customer, product, and sales performance and answer key business questions.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004074" y="2806303"/>
            <a:ext cx="3532397" cy="3460552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Identified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top products by revenue and quantity sold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Analyzed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revenue by country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Calculated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Average Order Value (AOV)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Identified each customer's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most recent purchase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Found customers with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more than 5 orders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Identified customers who spent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more than $1,000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Identified the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top 20% of customers by revenue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04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RFM Analysis &amp; Customer Segmentation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34195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RFM analysis was used to evaluate customers based on their purchasing behavior. Customers were scored using </a:t>
            </a: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NTILE(5)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and then classified into four segments.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993007"/>
            <a:ext cx="3526444" cy="1825427"/>
          </a:xfrm>
          <a:prstGeom prst="roundRect">
            <a:avLst>
              <a:gd name="adj" fmla="val 3805"/>
            </a:avLst>
          </a:prstGeom>
          <a:solidFill>
            <a:srgbClr val="F0DEDC"/>
          </a:solidFill>
          <a:ln w="6350">
            <a:solidFill>
              <a:srgbClr val="E1C2C2"/>
            </a:solidFill>
            <a:prstDash val="solid"/>
          </a:ln>
          <a:effectLst>
            <a:outerShdw sx="100000" sy="100000" kx="0" ky="0" algn="bl" rotWithShape="0" blurRad="127" dist="21590" dir="2700000">
              <a:srgbClr val="e1c2c2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33119" y="2164655"/>
            <a:ext cx="496081" cy="496094"/>
          </a:xfrm>
          <a:prstGeom prst="ellipse">
            <a:avLst/>
          </a:prstGeom>
          <a:solidFill>
            <a:srgbClr val="E1C2C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9541" y="2300982"/>
            <a:ext cx="223237" cy="2232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3119" y="2805410"/>
            <a:ext cx="31831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Recency (R)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3119" y="3150691"/>
            <a:ext cx="318315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Days since the customer's most recent purchase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2576" y="1993007"/>
            <a:ext cx="3526444" cy="1825427"/>
          </a:xfrm>
          <a:prstGeom prst="roundRect">
            <a:avLst>
              <a:gd name="adj" fmla="val 3805"/>
            </a:avLst>
          </a:prstGeom>
          <a:solidFill>
            <a:srgbClr val="F0DEDC"/>
          </a:solidFill>
          <a:ln w="6350">
            <a:solidFill>
              <a:srgbClr val="CCC4EC"/>
            </a:solidFill>
            <a:prstDash val="solid"/>
          </a:ln>
          <a:effectLst>
            <a:outerShdw sx="100000" sy="100000" kx="0" ky="0" algn="bl" rotWithShape="0" blurRad="127" dist="21590" dir="2700000">
              <a:srgbClr val="ccc4ec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04220" y="2164655"/>
            <a:ext cx="496081" cy="496094"/>
          </a:xfrm>
          <a:prstGeom prst="ellipse">
            <a:avLst/>
          </a:prstGeom>
          <a:solidFill>
            <a:srgbClr val="CCC4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0642" y="2300982"/>
            <a:ext cx="223237" cy="2232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04220" y="2805410"/>
            <a:ext cx="31831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Frequency (F)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04220" y="3150691"/>
            <a:ext cx="318315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Number of unique orders made by the customer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03677" y="1993007"/>
            <a:ext cx="3526444" cy="1825427"/>
          </a:xfrm>
          <a:prstGeom prst="roundRect">
            <a:avLst>
              <a:gd name="adj" fmla="val 3805"/>
            </a:avLst>
          </a:prstGeom>
          <a:solidFill>
            <a:srgbClr val="F0DEDC"/>
          </a:solidFill>
          <a:ln w="6350">
            <a:solidFill>
              <a:srgbClr val="B4DAE4"/>
            </a:solidFill>
            <a:prstDash val="solid"/>
          </a:ln>
          <a:effectLst>
            <a:outerShdw sx="100000" sy="100000" kx="0" ky="0" algn="bl" rotWithShape="0" blurRad="127" dist="21590" dir="2700000">
              <a:srgbClr val="b4dae4">
                <a:alpha val="10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75321" y="2164655"/>
            <a:ext cx="496081" cy="496094"/>
          </a:xfrm>
          <a:prstGeom prst="ellipse">
            <a:avLst/>
          </a:prstGeom>
          <a:solidFill>
            <a:srgbClr val="B4DAE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1744" y="2300982"/>
            <a:ext cx="223237" cy="2232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75321" y="2805410"/>
            <a:ext cx="31831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Monetary (M)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175321" y="3150691"/>
            <a:ext cx="3183156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Total amount spent by the customer</a:t>
            </a:r>
            <a:endParaRPr lang="en-US" sz="13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3981152"/>
            <a:ext cx="10868745" cy="23487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917"/>
            <a:ext cx="10868745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Customer Segmentation Based on RFM Scores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46076"/>
            <a:ext cx="1147833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After calculating Recency, Frequency, and Monetary values, customers were scored and classified into four customer segments.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432223"/>
            <a:ext cx="5387642" cy="110767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5583" y="1547713"/>
            <a:ext cx="199325" cy="1993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3375" y="1943298"/>
            <a:ext cx="5083842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High Value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13375" y="2206923"/>
            <a:ext cx="5083842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Best customers with strong recent and frequent purchasing behavior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42479" y="1432223"/>
            <a:ext cx="5387741" cy="1107678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36687" y="1547713"/>
            <a:ext cx="199325" cy="19933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294379" y="1943298"/>
            <a:ext cx="508394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Loyal</a:t>
            </a:r>
            <a:endParaRPr lang="en-US" sz="1300" dirty="0"/>
          </a:p>
        </p:txBody>
      </p:sp>
      <p:sp>
        <p:nvSpPr>
          <p:cNvPr id="11" name="Text 5"/>
          <p:cNvSpPr/>
          <p:nvPr/>
        </p:nvSpPr>
        <p:spPr>
          <a:xfrm>
            <a:off x="6294379" y="2206923"/>
            <a:ext cx="5083941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Customers who purchase recently and frequently</a:t>
            </a:r>
            <a:endParaRPr lang="en-US" sz="10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2633266"/>
            <a:ext cx="5387642" cy="1107678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55583" y="2748756"/>
            <a:ext cx="199325" cy="19933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13375" y="3144341"/>
            <a:ext cx="5083842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At-Risk</a:t>
            </a:r>
            <a:endParaRPr lang="en-US" sz="1300" dirty="0"/>
          </a:p>
        </p:txBody>
      </p:sp>
      <p:sp>
        <p:nvSpPr>
          <p:cNvPr id="15" name="Text 7"/>
          <p:cNvSpPr/>
          <p:nvPr/>
        </p:nvSpPr>
        <p:spPr>
          <a:xfrm>
            <a:off x="813375" y="3407966"/>
            <a:ext cx="5083842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Customers showing lower engagement and declining activity</a:t>
            </a:r>
            <a:endParaRPr lang="en-US" sz="10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42479" y="2633266"/>
            <a:ext cx="5387741" cy="1107678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736687" y="2748756"/>
            <a:ext cx="199325" cy="19933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294379" y="3144341"/>
            <a:ext cx="508394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Dormant</a:t>
            </a:r>
            <a:endParaRPr lang="en-US" sz="1300" dirty="0"/>
          </a:p>
        </p:txBody>
      </p:sp>
      <p:sp>
        <p:nvSpPr>
          <p:cNvPr id="19" name="Text 9"/>
          <p:cNvSpPr/>
          <p:nvPr/>
        </p:nvSpPr>
        <p:spPr>
          <a:xfrm>
            <a:off x="6294379" y="3407966"/>
            <a:ext cx="5083941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Customers with very low recent or frequent activity</a:t>
            </a:r>
            <a:endParaRPr lang="en-US" sz="100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1475" y="3951089"/>
            <a:ext cx="6951191" cy="2257822"/>
          </a:xfrm>
          <a:prstGeom prst="rect">
            <a:avLst/>
          </a:prstGeom>
        </p:spPr>
      </p:pic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43254" y="4487168"/>
            <a:ext cx="3593216" cy="11856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Power BI Dashboard &amp; Key Insights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09538"/>
            <a:ext cx="7726070" cy="47136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723533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Dashboard Highlights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61475" y="5918398"/>
            <a:ext cx="5319083" cy="503039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Monitors overall sales and customer performance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Visualizes customer segments based on RFM analysis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Tracks sales trends and customer purchasing behavior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Helps identify valuable and at-risk customers for targeted business strategies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61475" y="6468666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61475" y="6663531"/>
            <a:ext cx="5319083" cy="373162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Customer behavior was analyzed using Python, SQL, and RFM analysis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Customers were segmented into 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High Value, Loyal, At-Risk, and Dormant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Power BI dashboard presents key findings and supports data-driven customer strategies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217487" y="5723533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Business Recommendations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04787" y="5911552"/>
            <a:ext cx="2642725" cy="3336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37340" y="5924252"/>
            <a:ext cx="251017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High Value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337340" y="6119118"/>
            <a:ext cx="251017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Reward with loyalty programs and exclusive offers</a:t>
            </a:r>
            <a:endParaRPr lang="en-US" sz="7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3845" y="5911552"/>
            <a:ext cx="2642725" cy="33367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26398" y="5924252"/>
            <a:ext cx="251017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Loyal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9026398" y="6119118"/>
            <a:ext cx="251017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cross-selling and upselling opportunities</a:t>
            </a:r>
            <a:endParaRPr lang="en-US" sz="7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04787" y="6314281"/>
            <a:ext cx="2642725" cy="33367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37340" y="6326981"/>
            <a:ext cx="251017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At-Risk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6337340" y="6521847"/>
            <a:ext cx="251017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personalized promotions to re-engage them</a:t>
            </a:r>
            <a:endParaRPr lang="en-US" sz="7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93845" y="6314281"/>
            <a:ext cx="2642725" cy="33367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026398" y="6326981"/>
            <a:ext cx="251017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Dormant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9026398" y="6521847"/>
            <a:ext cx="251017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win-back campaigns to encourage repeat purchases</a:t>
            </a:r>
            <a:endParaRPr lang="en-US" sz="700" dirty="0"/>
          </a:p>
        </p:txBody>
      </p:sp>
      <p:sp>
        <p:nvSpPr>
          <p:cNvPr id="21" name="Text 14"/>
          <p:cNvSpPr/>
          <p:nvPr/>
        </p:nvSpPr>
        <p:spPr>
          <a:xfrm>
            <a:off x="356682" y="7106245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Thank You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2026-08-18T20:09:30Z</dcterms:created>
  <dcterms:modified xsi:type="dcterms:W3CDTF">2026-08-18T20:09:30Z</dcterms:modified>
</cp:coreProperties>
</file>